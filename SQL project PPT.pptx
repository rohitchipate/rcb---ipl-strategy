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83" r:id="rId2"/>
    <p:sldId id="284" r:id="rId3"/>
    <p:sldId id="285" r:id="rId4"/>
    <p:sldId id="286" r:id="rId5"/>
    <p:sldId id="287" r:id="rId6"/>
    <p:sldId id="288" r:id="rId7"/>
    <p:sldId id="290" r:id="rId8"/>
    <p:sldId id="291" r:id="rId9"/>
    <p:sldId id="292" r:id="rId10"/>
    <p:sldId id="293" r:id="rId11"/>
    <p:sldId id="295" r:id="rId12"/>
    <p:sldId id="297" r:id="rId13"/>
    <p:sldId id="298" r:id="rId14"/>
    <p:sldId id="299" r:id="rId15"/>
    <p:sldId id="302" r:id="rId16"/>
    <p:sldId id="303" r:id="rId17"/>
    <p:sldId id="304" r:id="rId18"/>
    <p:sldId id="305" r:id="rId19"/>
    <p:sldId id="306" r:id="rId20"/>
    <p:sldId id="309" r:id="rId21"/>
    <p:sldId id="308" r:id="rId22"/>
    <p:sldId id="30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DEBE74-FD56-4651-B8C1-00B272BA2778}" v="3" dt="2026-02-05T07:17:55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Chipate" userId="d4515e0916dc9997" providerId="LiveId" clId="{AD1069FB-FF4B-4DBE-A1AE-3BBFF78754A4}"/>
    <pc:docChg chg="undo custSel addSld modSld">
      <pc:chgData name="Rohit Chipate" userId="d4515e0916dc9997" providerId="LiveId" clId="{AD1069FB-FF4B-4DBE-A1AE-3BBFF78754A4}" dt="2026-02-05T07:19:51.761" v="97" actId="14100"/>
      <pc:docMkLst>
        <pc:docMk/>
      </pc:docMkLst>
      <pc:sldChg chg="modSp mod">
        <pc:chgData name="Rohit Chipate" userId="d4515e0916dc9997" providerId="LiveId" clId="{AD1069FB-FF4B-4DBE-A1AE-3BBFF78754A4}" dt="2026-02-05T07:18:42.660" v="86" actId="2711"/>
        <pc:sldMkLst>
          <pc:docMk/>
          <pc:sldMk cId="1990525464" sldId="305"/>
        </pc:sldMkLst>
        <pc:spChg chg="mod">
          <ac:chgData name="Rohit Chipate" userId="d4515e0916dc9997" providerId="LiveId" clId="{AD1069FB-FF4B-4DBE-A1AE-3BBFF78754A4}" dt="2026-02-05T07:18:42.660" v="86" actId="2711"/>
          <ac:spMkLst>
            <pc:docMk/>
            <pc:sldMk cId="1990525464" sldId="305"/>
            <ac:spMk id="2" creationId="{4F1BFBDA-0BD5-CDA7-2549-88E275810E40}"/>
          </ac:spMkLst>
        </pc:spChg>
      </pc:sldChg>
      <pc:sldChg chg="modSp mod">
        <pc:chgData name="Rohit Chipate" userId="d4515e0916dc9997" providerId="LiveId" clId="{AD1069FB-FF4B-4DBE-A1AE-3BBFF78754A4}" dt="2026-02-05T07:18:50.051" v="87" actId="2711"/>
        <pc:sldMkLst>
          <pc:docMk/>
          <pc:sldMk cId="44941944" sldId="306"/>
        </pc:sldMkLst>
        <pc:spChg chg="mod">
          <ac:chgData name="Rohit Chipate" userId="d4515e0916dc9997" providerId="LiveId" clId="{AD1069FB-FF4B-4DBE-A1AE-3BBFF78754A4}" dt="2026-02-05T07:18:50.051" v="87" actId="2711"/>
          <ac:spMkLst>
            <pc:docMk/>
            <pc:sldMk cId="44941944" sldId="306"/>
            <ac:spMk id="2" creationId="{E533A6AF-ED0D-C677-38C7-5AC58E24F25A}"/>
          </ac:spMkLst>
        </pc:spChg>
      </pc:sldChg>
      <pc:sldChg chg="modSp add mod">
        <pc:chgData name="Rohit Chipate" userId="d4515e0916dc9997" providerId="LiveId" clId="{AD1069FB-FF4B-4DBE-A1AE-3BBFF78754A4}" dt="2026-02-05T07:19:51.761" v="97" actId="14100"/>
        <pc:sldMkLst>
          <pc:docMk/>
          <pc:sldMk cId="3201728595" sldId="308"/>
        </pc:sldMkLst>
        <pc:spChg chg="mod">
          <ac:chgData name="Rohit Chipate" userId="d4515e0916dc9997" providerId="LiveId" clId="{AD1069FB-FF4B-4DBE-A1AE-3BBFF78754A4}" dt="2026-02-05T07:19:11.343" v="89" actId="2711"/>
          <ac:spMkLst>
            <pc:docMk/>
            <pc:sldMk cId="3201728595" sldId="308"/>
            <ac:spMk id="2" creationId="{09A8504F-2F5B-0841-F9C3-573B116CF778}"/>
          </ac:spMkLst>
        </pc:spChg>
        <pc:spChg chg="mod">
          <ac:chgData name="Rohit Chipate" userId="d4515e0916dc9997" providerId="LiveId" clId="{AD1069FB-FF4B-4DBE-A1AE-3BBFF78754A4}" dt="2026-02-05T07:19:51.761" v="97" actId="14100"/>
          <ac:spMkLst>
            <pc:docMk/>
            <pc:sldMk cId="3201728595" sldId="308"/>
            <ac:spMk id="3" creationId="{9A1569EA-A873-739A-2FB0-F802497D71AC}"/>
          </ac:spMkLst>
        </pc:spChg>
      </pc:sldChg>
      <pc:sldChg chg="modSp add mod">
        <pc:chgData name="Rohit Chipate" userId="d4515e0916dc9997" providerId="LiveId" clId="{AD1069FB-FF4B-4DBE-A1AE-3BBFF78754A4}" dt="2026-02-05T07:19:00.495" v="88" actId="2711"/>
        <pc:sldMkLst>
          <pc:docMk/>
          <pc:sldMk cId="3805319831" sldId="309"/>
        </pc:sldMkLst>
        <pc:spChg chg="mod">
          <ac:chgData name="Rohit Chipate" userId="d4515e0916dc9997" providerId="LiveId" clId="{AD1069FB-FF4B-4DBE-A1AE-3BBFF78754A4}" dt="2026-02-05T07:19:00.495" v="88" actId="2711"/>
          <ac:spMkLst>
            <pc:docMk/>
            <pc:sldMk cId="3805319831" sldId="309"/>
            <ac:spMk id="2" creationId="{FA45525B-0839-0F6C-12CB-E1A5D05AE27F}"/>
          </ac:spMkLst>
        </pc:spChg>
        <pc:spChg chg="mod">
          <ac:chgData name="Rohit Chipate" userId="d4515e0916dc9997" providerId="LiveId" clId="{AD1069FB-FF4B-4DBE-A1AE-3BBFF78754A4}" dt="2026-02-05T07:16:39.858" v="73" actId="1076"/>
          <ac:spMkLst>
            <pc:docMk/>
            <pc:sldMk cId="3805319831" sldId="309"/>
            <ac:spMk id="3" creationId="{A4F94A31-AF47-8909-DE29-B3338F5A9C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70D60-D138-45B7-B68B-6192F0B0DA89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D9A44-7F9A-43E8-BD56-3D062261C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8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D9A44-7F9A-43E8-BD56-3D062261CDE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97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D9A44-7F9A-43E8-BD56-3D062261CDE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35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D9A44-7F9A-43E8-BD56-3D062261CDE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73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1590C-3EEB-0EFE-7EEC-4A5B66860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4B5C4-801A-E20C-D3A2-420525266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285E6-F0EF-FEFF-78EB-1A4EEB9A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3074-BCD1-41B0-7940-BD493BC3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5B4DF-1DD1-EFF6-610D-AE3A06DE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82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3309-A410-8CEF-B3C0-9256AA3C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9A0C-1EF3-5060-E381-EDCD9661D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9C2F-FAAA-A861-9032-C018250B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380F5-6C5C-37CA-355F-9298312C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0BBD-F752-92AB-EEDD-09FCF8EA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33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F30B-B4FB-3A26-5367-B6A8815D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3590-3278-09B6-B595-4B61087EE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CBA01-1C3B-9CF2-F5E8-373C6056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67274-7973-A3C5-336D-7525A709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FB21-1E2F-A665-E2BE-68B299CA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874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6335-2CBF-E367-ED43-FABB004C7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13F3-560C-BFF8-2F04-240466C2F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7E00C-4D97-D45C-F34A-4B93CA92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E3164-817F-5D54-1D31-4B2D347C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928B4-9849-765C-0643-6010F5F0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E0905-2F32-47E3-1696-8F65C593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0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0B49-C518-367E-DE12-81789AD2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4472F-AC0C-7B99-5377-8EFCD4728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6F8BF-FD68-688F-E07A-1B14B7405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0C17-7B33-CBCF-B200-2D5D06E7E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BF022-06FD-2285-A1A1-1D66E8470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F3C10-7591-3DAA-6DD7-5A6E92DB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80ED9-048C-CF7C-322B-71BC6B36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BAAA2-D94E-8964-F5FB-14EEB66F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151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963C-4F87-2569-E9EB-E86D81B4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BB22A-5958-8E27-F31B-1EF53EBE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2FC72-9456-9E71-749F-B8172C1E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7BB05-4C5D-A92B-07F2-9EF7D90B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246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0A67-A709-E51B-4F74-DFDEC279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49DF4-409B-D09A-F815-C8527E83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C402D-7D9B-62E5-5FC2-B782F798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38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D2018-BB15-C4A5-4674-5019D643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6D695-359A-BEAC-3980-97BCE9DAD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D1537-131B-6CCD-0440-6FA2A0B6F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44E33-5B94-80B4-8F80-0BB2D775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D4F7C-2C73-C3A6-5336-D119A49A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2B0C0-3E80-9322-E5DF-EBD12631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35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2EDDC-41DC-51FE-21F9-D743CF5D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41E716-76EF-A678-2B3A-04C9DB538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79D9D-FF8D-3D98-E8C6-7A059868B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4479A-3426-BCEC-7FE3-281B0659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AD0BE-6A77-4CE3-4B50-231722A7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7E27F-E678-E471-0986-84B19BF3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58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D4E2-4A5A-ABB4-ED36-B16EBA9AB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532B4-8152-AF0D-13E6-8E6290EEA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C1BD7-EFA8-BD90-DA71-B77BF0D9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386C3-5EA3-4FA4-1AAC-5C48A92B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1D772-A9E2-CEC3-6553-719AFF05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70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68783-2F3F-F98E-6835-F787DD1CA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93A88-F140-A664-EBFD-8C5789EC5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CF610-BBB5-EFB1-D7A0-A7A902D35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627B6-DB1C-4C4B-00B2-D276CE41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93C95-6ACA-D034-B9F7-F8B82FE1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89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2D389-7DCD-ED29-BC93-89FC86EC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95DB2-3E4E-EA6B-1BE0-F8E773A4B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06AD8-84BB-1C29-746D-97D16A01B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6263E1-769B-4C2E-8010-CEE476DFFB52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3EF93-C59D-668F-8C9F-86269A2D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707E8-834E-4CCB-FC82-62F222BB3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0F9EF-2313-4972-9DF3-0137D36F7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61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ADA8-7542-37BC-54AA-2CD98600E0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RCB- IPL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91D0D-01C2-94D8-CA74-33867EDD2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4244"/>
            <a:ext cx="9144000" cy="140355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Rohit Chipate</a:t>
            </a:r>
          </a:p>
        </p:txBody>
      </p:sp>
    </p:spTree>
    <p:extLst>
      <p:ext uri="{BB962C8B-B14F-4D97-AF65-F5344CB8AC3E}">
        <p14:creationId xmlns:p14="http://schemas.microsoft.com/office/powerpoint/2010/main" val="35347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60BB-0B46-4C7F-55BB-DD0D9421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759" y="83916"/>
            <a:ext cx="10515600" cy="1133475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2C305-C99A-1BD8-6149-FDA0E7C31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380" y="2031458"/>
            <a:ext cx="10515600" cy="150018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hired as a sport data analyst by RCB where the team is looking for top-performing and reliable players to win tournaments, considering both on-field performance and value for money in mega player auction of 2017. </a:t>
            </a:r>
            <a:endParaRPr lang="en-US" sz="1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task is to come up with strategies/suggestions regarding selecting the best-performing players and optimizing player auction investments.</a:t>
            </a:r>
            <a:endParaRPr lang="en-US" sz="18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39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BB60-158A-CEB0-6862-C1A2C1D4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93F0952-86ED-8797-166F-15EAABCB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06013"/>
            <a:ext cx="11098162" cy="522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00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9AED-F371-DCEC-66C6-22D3B75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1A5E5-1854-6686-974E-9131623763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Ball by Ball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cricket match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an over in a cricket match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Ball_id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ball in an over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Innings_No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innings number in a cricket match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Team_Batting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team batting in a particular innings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Team_Bowling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team bowling in a particular innings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Striker_Batting_Position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batting position of the striker batsman</a:t>
            </a:r>
          </a:p>
          <a:p>
            <a:pPr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Striker: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batsman currently on strike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Runs_Scored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Total runs scored by Player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Non_Striker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batsman currently at the non-striker's end</a:t>
            </a:r>
          </a:p>
          <a:p>
            <a:pPr fontAlgn="base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Bowler: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bowler bowling the current delivery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A5C3-A6DE-98E4-C58D-5AC2E0AE35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 style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Batting_id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batsman's batting record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Batting_hand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batting hand (right or left) of a batsman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Bowling style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Bowling_id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bowler's bowling record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Bowling_skill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bowling skill (e.g., right-arm fast, left-arm spin) of a bowler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city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 city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country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18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948A-8029-F7C7-EA95-50674787D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5292-49BC-5F24-065E-DB553C7C6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1748" y="169068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Role_Id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player's role or skills (e.g., batsman, bowler, all-rounder).</a:t>
            </a:r>
          </a:p>
          <a:p>
            <a:pPr fontAlgn="base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Role_Desc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Description of a player's role or skills.</a:t>
            </a:r>
          </a:p>
          <a:p>
            <a:pPr marL="0" indent="0" fontAlgn="base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Team_Id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team.</a:t>
            </a:r>
          </a:p>
          <a:p>
            <a:pPr fontAlgn="base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Team_Name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 team.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3D33D-AB26-0825-5074-2D4D2DB73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4355" y="170989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Umpire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Umpire_id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an umpire officiating the match.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Umpire_name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an umpire.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Umpire_country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country or nationality of an umpire.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Match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player.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Player_Name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a player.</a:t>
            </a:r>
          </a:p>
          <a:p>
            <a:pPr marL="0" indent="0">
              <a:buNone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Out_Type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the type of dismissal or way a batsman got out.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or description of the type of dismissal (e.g., caught, bowled,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lbw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run out).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56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BAF7-73CB-0B62-A9A5-0B9673F6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3A76-31F6-EEA9-5B7D-42F26415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EC4C5-3ACC-6FB7-34CA-0A36651F9C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Type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an instance of extra runs scored.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or description of the type of extra runs scored (e.g., byes, leg byes,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no-balls).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Season_Id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particular season or tournament.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Man_of_the_Series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player awarded the Man of the Series award for a particular tournament.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Orange_cap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player awarded the Orange Cap (for most runs scored) in a particular tournament.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Purple_cap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player awarded the Purple Cap (for most wickets taken) in a particular tournament.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Season_Year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Year of the Season 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9849D-7AD0-5B9C-C04B-69CA2B8E3F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Win_By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win type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Win_Type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type of win (e.g., runs, wickets) achieved by the winning team.</a:t>
            </a:r>
          </a:p>
          <a:p>
            <a:pPr marL="0" indent="0" fontAlgn="base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Outcome_type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type of outcome or result of the match (e.g., win, loss, tie, no result).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Outcome_Id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the outcome or result of a match.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Decision</a:t>
            </a:r>
          </a:p>
          <a:p>
            <a:r>
              <a:rPr lang="en-US" sz="15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Tos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Unique identifier for the toss.</a:t>
            </a:r>
            <a:endParaRPr lang="en-US" sz="15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or description of the toss (e.g., heads or tails).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5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0D87-4AE0-3D70-2167-61279580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6956-FC3F-D60D-C429-4D34B5C42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41F4-7A37-3DFF-1DF9-2A8DF536CF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Runs 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Reference to the match in which the extra runs were conceded.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an over in a cricket match</a:t>
            </a:r>
            <a:endParaRPr lang="en-US" sz="15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Ball_Id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Reference to the specific ball during which extra runs were conceded.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Extra_Type_Id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the type of extra runs scored in a cricket match.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Extra_Runs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number of extra runs scored in a particular delivery.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Innings_No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innings number during which the extra run occurred.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BA4C1-4EEE-AEA1-BA1C-90B76CCE1B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Player_Id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player.</a:t>
            </a:r>
          </a:p>
          <a:p>
            <a:pPr fontAlgn="base"/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 player.</a:t>
            </a:r>
          </a:p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DOB: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Birth of a Player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Batting_hand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batting hand (right or left) of a batsman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Bowling_skill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bowling skill (e.g., right-arm fast, left-arm spin) of a bowler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 country</a:t>
            </a: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Country_id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Unique identifier for a country</a:t>
            </a:r>
          </a:p>
          <a:p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Country_Name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name of a country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360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1C88-8F40-194F-5F1C-C73ECFC3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E626-071B-5B33-91E1-79B718CB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3B00-17A7-9B21-AADA-AB038E414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800" y="1611390"/>
            <a:ext cx="5181600" cy="4351338"/>
          </a:xfrm>
        </p:spPr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Wickets Taken</a:t>
            </a:r>
          </a:p>
          <a:p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Match_Id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the match in which the wicket was taken </a:t>
            </a:r>
          </a:p>
          <a:p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Over_id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an over in a cricket match</a:t>
            </a:r>
            <a:endParaRPr lang="en-US" sz="2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Ball_Id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Reference to the specific ball during which the wicket was taken.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Player_Out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Reference to the player who was dismissed.</a:t>
            </a:r>
          </a:p>
          <a:p>
            <a:r>
              <a:rPr lang="en-US" sz="27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Kind_Out</a:t>
            </a:r>
            <a:r>
              <a:rPr lang="en-US" sz="27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 to the player who was dismissed</a:t>
            </a:r>
          </a:p>
          <a:p>
            <a:pPr fontAlgn="base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Fielder: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 to the player who fielded the ball.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Innings_No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innings number in a cricket match.</a:t>
            </a:r>
          </a:p>
          <a:p>
            <a:pPr marL="0" indent="0" fontAlgn="base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B6E8D-3460-6BCC-97A8-961742F1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818" y="1532732"/>
            <a:ext cx="5181600" cy="4667250"/>
          </a:xfrm>
        </p:spPr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Match_Id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each match.</a:t>
            </a:r>
          </a:p>
          <a:p>
            <a:pPr fontAlgn="base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1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:Team 1 in the Match.</a:t>
            </a:r>
          </a:p>
          <a:p>
            <a:pPr fontAlgn="base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2: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2 in the Match.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Match_Date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date when the match took place.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Season_Id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season in which the match occurred.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Venue_Id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Reference  the venue where the match was played.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Toss_Winner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team that won the toss.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Toss_Decide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Toss decision affecting which team will played batting or bowling.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Win_Type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method by which the match was won (e.g., runs or wickets).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Win_Margin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margin by which the match was won.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Outcome_Type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Type of result (win, tie, etc.).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Match_Winner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team that won the match.</a:t>
            </a:r>
          </a:p>
          <a:p>
            <a:pPr fontAlgn="base"/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Man_of_the_Match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player awarded the Man of the Match award.</a:t>
            </a:r>
          </a:p>
          <a:p>
            <a:pPr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745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9188-D3C4-4219-3452-BA9640BE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Players With High Strike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57B64-2BC9-BAB0-DDC1-32BB20F640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Performers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Ranked by strike rate across the last four seasons to ensure consistency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Strike Rate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(Total Runs / Balls Faced) × 100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Highlights high-impact batters (e.g., AD Russell, AB de Villiers) for team planning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0D9337-CE54-3E4C-D7C4-ED82E447A0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825625"/>
            <a:ext cx="4978602" cy="34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57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A6E7-0D92-D392-AFC8-EC87ED4D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DEB0-40A0-3E13-430F-97A9FF11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Batting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8F74C-0C40-7FF6-2E96-A64F987ECF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723" y="1825624"/>
            <a:ext cx="5181600" cy="4351338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Calculate average runs per innings across IPL seasons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Player &amp; ball-by-ball tables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Average = Total Runs / Innings Played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Performers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Ranked by highest average (e.g., LMP Simmons, V Kohli)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E0EF99-CBF4-1B48-7B31-2059970C3F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8880" y="1690688"/>
            <a:ext cx="4958080" cy="368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40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79ED-9F83-AF75-959D-7F43697D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84E5-EB07-86DF-FB9F-A1D16337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Ground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997D5-DE9D-41BF-9E9B-4998733F6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RCB Venue Performance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Summary of wins and losses by venue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Matches, Team &amp; Venue tables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Evaluates venue-wise consistency for match preparation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3EB992-39BB-3CD4-3410-4947CCD478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587158"/>
            <a:ext cx="5349237" cy="359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2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1C88-DDAC-2363-7707-D561D53D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6B58-5A9A-CAB6-6CD7-AE48BD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Previous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8EE7-2F56-492F-16A8-7E83534F47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year-on-year IPL team performance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Matches, Season, Team,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Win_by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Toss_decision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season-wise wins vs losses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RCB Insights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 % recovered after 2014 slump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Ended on a strong note in 2016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410EFC-BB2B-F80C-5EFF-E03EC3B775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8881" y="1825625"/>
            <a:ext cx="5181600" cy="34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6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99EC-374C-55B6-D88B-F1FE06DD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6767-A370-906B-3833-7F628603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Toss Impact in Different Venues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84D07-2737-5214-513E-3F32EF82FB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Venue-Specific Impact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Wankhede (Mumbai):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85.71% wins batting first (strong home advantage)</a:t>
            </a:r>
          </a:p>
          <a:p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(Bangalore):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62.5% wins fielding first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Feroz Shah Kotla (Delhi):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outcomes for bat &amp; field first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BA30A16-7749-36BC-CF16-D95CA38D59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319" y="1825625"/>
            <a:ext cx="4953361" cy="4351338"/>
          </a:xfrm>
        </p:spPr>
      </p:pic>
    </p:spTree>
    <p:extLst>
      <p:ext uri="{BB962C8B-B14F-4D97-AF65-F5344CB8AC3E}">
        <p14:creationId xmlns:p14="http://schemas.microsoft.com/office/powerpoint/2010/main" val="1180504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A5D29-1375-F224-B389-FC751963C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FEE5-8A7E-9929-4FFC-771677FF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Players for the Team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DEC2-444F-B560-D41F-6CF579BBB9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Gayle: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performer (68.03) – dominant batsman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 Watson: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true all-rounder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Batsmen: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Kohli, Warner, AB – high batting, no wickets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 Bowlers: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Bravo (81), B Kumar (77) – strong wicket-takers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Picks (≥65):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Gayle &amp; Watson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A graph of a player selection&#10;&#10;AI-generated content may be incorrect.">
            <a:extLst>
              <a:ext uri="{FF2B5EF4-FFF2-40B4-BE49-F238E27FC236}">
                <a16:creationId xmlns:a16="http://schemas.microsoft.com/office/drawing/2014/main" id="{BB13D7F3-EBE4-4724-4DBC-BA8B004F7F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1825625"/>
            <a:ext cx="5181598" cy="4351338"/>
          </a:xfrm>
        </p:spPr>
      </p:pic>
    </p:spTree>
    <p:extLst>
      <p:ext uri="{BB962C8B-B14F-4D97-AF65-F5344CB8AC3E}">
        <p14:creationId xmlns:p14="http://schemas.microsoft.com/office/powerpoint/2010/main" val="2175627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BCE6-0FEF-F6AD-DDD7-2108AF80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E68D-3C7C-E4BB-BCA1-3FEC30B8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RCB’s Season wise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90929-B94E-4E00-A79B-01F9DB6BCB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Playoff Qualification: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75% (3 of 4 seasons)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Wins: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 wins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Wins: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7.75 per season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Seasons: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2013 &amp; 2016 (9 wins each)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0E80FF9-B763-29F7-5726-FEC1280539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690688"/>
            <a:ext cx="5105398" cy="348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6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27A-E21B-4EFB-A1EB-30C7A1B6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928D-0879-BDF3-1AA3-31F5DECC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Player’s Performance at Specific 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98653-5F0A-0DF6-4869-A291FC2D70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JH Kallis @ Eden Gardens: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dominant combo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 Watson @ Jaipur: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record at Sawai Mansingh Stadium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Vijay @ Chandigarh: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54.9% better at PCA Stadium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 Trend: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Eden Gardens, Kotla &amp; Chepauk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 batsmen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A graph of different colored columns&#10;&#10;AI-generated content may be incorrect.">
            <a:extLst>
              <a:ext uri="{FF2B5EF4-FFF2-40B4-BE49-F238E27FC236}">
                <a16:creationId xmlns:a16="http://schemas.microsoft.com/office/drawing/2014/main" id="{06ECDC67-6AD3-D3DC-B978-AA3D57A5D3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6"/>
            <a:ext cx="5181600" cy="4180204"/>
          </a:xfrm>
        </p:spPr>
      </p:pic>
    </p:spTree>
    <p:extLst>
      <p:ext uri="{BB962C8B-B14F-4D97-AF65-F5344CB8AC3E}">
        <p14:creationId xmlns:p14="http://schemas.microsoft.com/office/powerpoint/2010/main" val="354336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58CB-12BF-8074-337D-3373BF53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F350-31D7-CE98-098E-7FB9CC00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vs Away Venue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7DB1A-B9EB-17C1-DB91-6AEE9D2ED4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 %: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at home (55.17%) vs away (45.45%)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Winning Margin: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Stronger at home (72.6 runs) vs away (24.2 runs)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Area: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Strengthen away &amp; neutral venue strategy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66F208-4B23-BBDA-F642-B2A09CC52B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2" y="1615974"/>
            <a:ext cx="5612474" cy="362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5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FBDA-0BD5-CDA7-2549-88E27581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Parameters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considered during player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3DE0-5777-2F4C-3AB4-7787C20B4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5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Runs, average, strike rate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Bowling: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Wickets, average, economy, strike rate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Balance: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Experience for strategy + youth for energy</a:t>
            </a: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525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485F-D698-A63B-4B75-61DD9BA1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A6AF-ED0D-C677-38C7-5AC58E24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RCB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Mega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Auction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4027-0B01-FC61-397C-9A6E8ECB4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087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Prioritize powerplay &amp; death-over bowlers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balanced squad (beyond star batters)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 in genuine all-rounders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Strengthen middle-order stability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Pick bowlers suited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reliance on top-order batting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41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9F8E-32D3-17B3-7979-745A6E11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525B-0839-0F6C-12CB-E1A5D05A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94A31-AF47-8909-DE29-B3338F5A9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561465"/>
            <a:ext cx="11402060" cy="4646295"/>
          </a:xfrm>
        </p:spPr>
        <p:txBody>
          <a:bodyPr>
            <a:normAutofit fontScale="6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Auction &amp; Squad Building: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Powerplay &amp; Death Bowlers: Prioritize bowlers with strong records in powerplay and death overs to strengthen bowling at both ends of the innings.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Genuine All-Rounders: Players like Shane Watson and Dwayne Smith provide balance, reducing dependency on specialist batsmen and bowlers.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Balanced Squad: Move beyond star-heavy batting lineups; focus on middle-order stability and versatile players.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Player Selection Criteria: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Venue-Specific Picks: Select players with proven records 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frequent venues (e.g., left-arm fast bowlers, power hitters).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Metrics: Use a weighted scoring system combining batting average, strike rate, bowling economy, and wickets per match.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Youth + Experience: Blend experienced players for strategy with young talent for energy and fielding.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Match Strategy: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Toss &amp; Venue Strategy: 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Chinnaswamy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consider fielding first (62.5% win rate). At venues like Wankhede, prefer batting first.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vs. Away Planning: Develop specific game plans for away matches where RCB’s performance dips significantly.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Data-Driven Decisions: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historical performance data (last 4 seasons) to identify consistent performers rather than one-season wonders.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bowling style analysis (e.g., right-arm medium, left-arm fast) into opposition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319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76DC-0D05-DEE1-9E7C-E3D6BB10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504F-2F5B-0841-F9C3-573B116C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Concusion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569EA-A873-739A-2FB0-F802497D7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1825625"/>
            <a:ext cx="10241280" cy="401637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RCB has shown strong playoff consistency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(75% qualification rate) but relies heavily on top-order batting and struggles in away matches.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Team balance is essential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– Over-reliance on star batsmen must be reduced by investing in all-rounders and a stable middle order.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Bowling strategy needs refinement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– Focus on acquiring powerplay and death-over specialists, especially those suited to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Chinnaswamy’s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conditions.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Venue-specific planning is crucial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– Toss decisions and player selection should be tailored to ground trends (e.g., field first at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Chinnaswamy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bat first at Wankhede).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Auction investments must be data-driven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– Prioritize players with consistent multi-season performances and clear role clarity.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Youth and experience should be blended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– Maintain strategic experience while injecting young talent for energy and fielding strength.</a:t>
            </a:r>
          </a:p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With a structured, analytics-backed approach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RCB can build a more resilient and adaptable squad capable of competing for the IPL title.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28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A5A510-C9B1-800A-C51D-5B0C39F8CCCD}"/>
              </a:ext>
            </a:extLst>
          </p:cNvPr>
          <p:cNvSpPr/>
          <p:nvPr/>
        </p:nvSpPr>
        <p:spPr>
          <a:xfrm>
            <a:off x="3922875" y="2967335"/>
            <a:ext cx="434625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2256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2973</TotalTime>
  <Words>2087</Words>
  <Application>Microsoft Office PowerPoint</Application>
  <PresentationFormat>Widescreen</PresentationFormat>
  <Paragraphs>196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RCB- IPL Strategy</vt:lpstr>
      <vt:lpstr>Problem Statement</vt:lpstr>
      <vt:lpstr>Database Schema</vt:lpstr>
      <vt:lpstr>Data Description</vt:lpstr>
      <vt:lpstr>Data Description</vt:lpstr>
      <vt:lpstr>Data Description</vt:lpstr>
      <vt:lpstr>Data Description</vt:lpstr>
      <vt:lpstr>Data Description</vt:lpstr>
      <vt:lpstr>Players With High Strike Rate</vt:lpstr>
      <vt:lpstr>Best Batting Average</vt:lpstr>
      <vt:lpstr>Home Ground Performance</vt:lpstr>
      <vt:lpstr>Comparison with Previous Season</vt:lpstr>
      <vt:lpstr>Toss Impact in Different Venues</vt:lpstr>
      <vt:lpstr>Suitable Players for the Team </vt:lpstr>
      <vt:lpstr>RCB’s Season wise Performance</vt:lpstr>
      <vt:lpstr>Player’s Performance at Specific Venue</vt:lpstr>
      <vt:lpstr>Home vs Away Venue Performance</vt:lpstr>
      <vt:lpstr>Parameters considered during player selection</vt:lpstr>
      <vt:lpstr>RCB Mega Auction Strategy</vt:lpstr>
      <vt:lpstr>Recommendation</vt:lpstr>
      <vt:lpstr>Concusion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JADHAV</dc:creator>
  <cp:lastModifiedBy>Rohit Chipate</cp:lastModifiedBy>
  <cp:revision>8</cp:revision>
  <dcterms:created xsi:type="dcterms:W3CDTF">2026-01-16T12:22:03Z</dcterms:created>
  <dcterms:modified xsi:type="dcterms:W3CDTF">2026-02-05T07:20:02Z</dcterms:modified>
</cp:coreProperties>
</file>